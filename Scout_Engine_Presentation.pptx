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9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97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822960"/>
            <a:ext cx="4114800" cy="41148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274320"/>
            <a:ext cx="3017520" cy="3017520"/>
          </a:xfrm>
          <a:prstGeom prst="ellipse">
            <a:avLst/>
          </a:prstGeom>
          <a:solidFill>
            <a:srgbClr val="1D4080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2C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2023/24 · TOP-5 EUROPEAN LEAGUES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11480" y="169164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SCOUT ENGINE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11480" y="2926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Player Recommendation System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370332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D4080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703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C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ML-Powered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14600" y="370332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D4080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3703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C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Similarity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17720" y="370332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D4080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3703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C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· k=5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20840" y="370332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D4080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703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C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 Elite Clubs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Python · scikit-learn · pandas · matplotlib</a:t>
            </a:r>
            <a:endParaRPr lang="en-US" sz="8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496" y="517304"/>
            <a:ext cx="1886910" cy="11588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scouting tool that identifies the best young forward signings for 17 of Europe's top clubs — using machine learning to match playing styles, not just statistics.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48840"/>
            <a:ext cx="2560320" cy="6400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334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385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57200" y="32186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Dataset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1488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2148840"/>
            <a:ext cx="2560320" cy="6400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286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6334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206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3291840" y="32186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21488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2148840"/>
            <a:ext cx="2560320" cy="6400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2860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6334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6126480" y="32186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Built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forwards aged ≤ 29 with ≥ 900 minutes played  ·  Engineers 9 attacking features  ·  Clusters players into 5 archetypes  ·  Scores every candidate by cosine similarity to the club's forward profile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029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DATASET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2286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385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0020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Players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9443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00200" y="29900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36027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600200" y="36484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Represented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426110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600200" y="43068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Features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49040" y="274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LEAGUES COVERED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49040" y="777240"/>
            <a:ext cx="502920" cy="411480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7772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389120" y="7955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749040" y="1371600"/>
            <a:ext cx="502920" cy="4114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49040" y="1371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389120" y="1389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749040" y="1965960"/>
            <a:ext cx="502920" cy="411480"/>
          </a:xfrm>
          <a:prstGeom prst="rect">
            <a:avLst/>
          </a:prstGeom>
          <a:solidFill>
            <a:srgbClr val="0A4595"/>
          </a:solidFill>
          <a:ln w="12700">
            <a:solidFill>
              <a:srgbClr val="0A459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49040" y="19659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89120" y="1984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A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749040" y="2560320"/>
            <a:ext cx="502920" cy="411480"/>
          </a:xfrm>
          <a:prstGeom prst="rect">
            <a:avLst/>
          </a:prstGeom>
          <a:solidFill>
            <a:srgbClr val="D20515"/>
          </a:solidFill>
          <a:ln w="12700">
            <a:solidFill>
              <a:srgbClr val="D2051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49040" y="2560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389120" y="25786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749040" y="3154680"/>
            <a:ext cx="502920" cy="411480"/>
          </a:xfrm>
          <a:prstGeom prst="rect">
            <a:avLst/>
          </a:prstGeom>
          <a:solidFill>
            <a:srgbClr val="091C3E"/>
          </a:solidFill>
          <a:ln w="12700">
            <a:solidFill>
              <a:srgbClr val="091C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49040" y="3154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389120" y="31729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1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749040" y="3749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COLUMNS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49040" y="41148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Goals / Assists / xG / Shots / Key Passes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749040" y="43891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All stats per 90 minutes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749040" y="46634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Age · Position · Nation · Minutes Played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attacking features engineered from raw counting stats — all scaled and fed into the ML pipeline.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19072"/>
            <a:ext cx="64008" cy="56692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46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 / 90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rate per 90 mins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38658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86584"/>
            <a:ext cx="64008" cy="56692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Assists / 90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creation per 90 mins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54096"/>
            <a:ext cx="64008" cy="56692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081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 / 90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per 90 mins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72160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721608"/>
            <a:ext cx="64008" cy="56692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Shots / 90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3995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volume per 90 mins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71907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719072"/>
            <a:ext cx="64008" cy="56692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746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Passes / 90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10912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leading to shots per 90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38658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386584"/>
            <a:ext cx="64008" cy="56692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Contribution/90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10912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+ Assists per 90 mins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05409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054096"/>
            <a:ext cx="64008" cy="56692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081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Shot Conversion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10912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÷ Shots (efficiency)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72160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721608"/>
            <a:ext cx="64008" cy="56692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 / 90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10912" y="3995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+ Key Passes per 90 mins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38912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4389120"/>
            <a:ext cx="64008" cy="56692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4416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Volume / 90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10912" y="4663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+ Key Passes per 90 mins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K-MEANS CLUSTERING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divided into 5 forward archetypes using K-Means (k=5) on StandardScaler-normalised features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508760"/>
            <a:ext cx="914400" cy="914400"/>
          </a:xfrm>
          <a:prstGeom prst="ellipse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Finishers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3127248"/>
            <a:ext cx="1536192" cy="1417320"/>
          </a:xfrm>
          <a:prstGeom prst="rect">
            <a:avLst/>
          </a:prstGeom>
          <a:solidFill>
            <a:srgbClr val="162D5A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12724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goals, xG &amp; shots.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goal scorers.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41448" y="1508760"/>
            <a:ext cx="914400" cy="9144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39112" y="251460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30552" y="3127248"/>
            <a:ext cx="1536192" cy="1417320"/>
          </a:xfrm>
          <a:prstGeom prst="rect">
            <a:avLst/>
          </a:prstGeom>
          <a:solidFill>
            <a:srgbClr val="162D5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312724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assists &amp; key passes.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Playmaking attackers.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1508760"/>
            <a:ext cx="914400" cy="9144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58184" y="251460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9624" y="3127248"/>
            <a:ext cx="1536192" cy="1417320"/>
          </a:xfrm>
          <a:prstGeom prst="rect">
            <a:avLst/>
          </a:prstGeom>
          <a:solidFill>
            <a:srgbClr val="162D5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9624" y="312724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dribbling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specialists.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79592" y="1508760"/>
            <a:ext cx="914400" cy="9144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77256" y="251460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568696" y="3127248"/>
            <a:ext cx="1536192" cy="1417320"/>
          </a:xfrm>
          <a:prstGeom prst="rect">
            <a:avLst/>
          </a:prstGeom>
          <a:solidFill>
            <a:srgbClr val="162D5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312724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vol, moderate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finishing. Work rate.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98664" y="1508760"/>
            <a:ext cx="914400" cy="9144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8664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96328" y="251460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Box-to-Box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87768" y="3127248"/>
            <a:ext cx="1536192" cy="1417320"/>
          </a:xfrm>
          <a:prstGeom prst="rect">
            <a:avLst/>
          </a:prstGeom>
          <a:solidFill>
            <a:srgbClr val="162D5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7768" y="312724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 contribution.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+ creativity.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normalisation → KMeans (n_init=10, random_state=42) → PCA 2D visualisation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64008" cy="514350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PROFILES &amp;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SIMILARITY SCORING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75488" cy="475488"/>
          </a:xfrm>
          <a:prstGeom prst="ellipse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4447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Club Forwards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709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all eligible forwards (age ≤29, ≥900 mins) currently at the club.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475488" cy="475488"/>
          </a:xfrm>
          <a:prstGeom prst="ellipse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Mean Vector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25511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their 9 feature values to produce a single profile vector for the club.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145536"/>
            <a:ext cx="475488" cy="475488"/>
          </a:xfrm>
          <a:prstGeom prst="ellipse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45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1272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the Profile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3392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fitted StandardScaler to the club vector for consistent comparison.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986784"/>
            <a:ext cx="475488" cy="475488"/>
          </a:xfrm>
          <a:prstGeom prst="ellipse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86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9684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Similarity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4233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external candidate by the angle between their vector and the club vector.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0" y="274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 CLUBS PROFILED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749808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74980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0" y="1225296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122529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Madrid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9280" y="1700784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170078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Atletico Madrid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0" y="2176272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0" y="217627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City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0" y="2651760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26517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United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0" y="3127248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9280" y="31272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69280" y="3602736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69280" y="360273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Chelsea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0" y="4078224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69280" y="407822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9280" y="4553712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69280" y="455371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Tottenham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88352" y="749808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88352" y="74980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 Villa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88352" y="1225296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88352" y="122529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Milan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88352" y="1700784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388352" y="170078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Milan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388352" y="2176272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388352" y="217627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Juventus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388352" y="2651760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88352" y="26517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Bayern Munich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388352" y="3127248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388352" y="31272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Borussia Dortmund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388352" y="3602736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388352" y="360273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Saint-Germain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88352" y="4078224"/>
            <a:ext cx="1572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388352" y="407822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Marseille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2C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Top-3 forward recommendations — Atletico Madrid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24712"/>
            <a:ext cx="8229600" cy="4572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8229600" cy="1051560"/>
          </a:xfrm>
          <a:prstGeom prst="rect">
            <a:avLst/>
          </a:prstGeom>
          <a:solidFill>
            <a:srgbClr val="132850"/>
          </a:solidFill>
          <a:ln w="12700">
            <a:solidFill>
              <a:srgbClr val="1D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105156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98448" y="1362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Julian Alvarez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Atletico Madrid → External  ·  Age 24  ·  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98448" y="1993392"/>
            <a:ext cx="1828800" cy="256032"/>
          </a:xfrm>
          <a:prstGeom prst="rect">
            <a:avLst/>
          </a:prstGeom>
          <a:solidFill>
            <a:srgbClr val="1D4080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1993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2C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C0 · Elite Finisher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37760" y="1353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A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 SCORE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92.4%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14630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0.641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8013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Gls/90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58000" y="14630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0.283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18013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Ast/90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5200" y="14630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0.580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18013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xG/90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0" y="14630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2.84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18013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Sh/90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229600" y="14630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18013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KP/90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2487168"/>
            <a:ext cx="8229600" cy="1051560"/>
          </a:xfrm>
          <a:prstGeom prst="rect">
            <a:avLst/>
          </a:prstGeom>
          <a:solidFill>
            <a:srgbClr val="132850"/>
          </a:solidFill>
          <a:ln w="12700">
            <a:solidFill>
              <a:srgbClr val="1D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487168"/>
            <a:ext cx="73152" cy="105156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5786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98448" y="2551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Ollie Watkins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8448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 Villa  ·  Age 28  ·  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298448" y="3182112"/>
            <a:ext cx="1828800" cy="256032"/>
          </a:xfrm>
          <a:prstGeom prst="rect">
            <a:avLst/>
          </a:prstGeom>
          <a:solidFill>
            <a:srgbClr val="1D4080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2C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C0 · Elite Finisher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37760" y="2542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A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 SCORE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9204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89.7%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400800" y="2651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0.571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29900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Gls/90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58000" y="2651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0.321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29900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Ast/90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15200" y="2651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29900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xG/90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772400" y="2651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29900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Sh/90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229600" y="2651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29900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KP/90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3675888"/>
            <a:ext cx="8229600" cy="1051560"/>
          </a:xfrm>
          <a:prstGeom prst="rect">
            <a:avLst/>
          </a:prstGeom>
          <a:solidFill>
            <a:srgbClr val="132850"/>
          </a:solidFill>
          <a:ln w="12700">
            <a:solidFill>
              <a:srgbClr val="1D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3675888"/>
            <a:ext cx="73152" cy="105156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37673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298448" y="37398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Lautaro Martinez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98448" y="4096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 ·  Age 26  ·  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298448" y="4370832"/>
            <a:ext cx="1828800" cy="256032"/>
          </a:xfrm>
          <a:prstGeom prst="rect">
            <a:avLst/>
          </a:prstGeom>
          <a:solidFill>
            <a:srgbClr val="1D4080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98448" y="4370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2C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C0 · Elite Finisher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37760" y="3730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A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 SCORE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92040" y="3931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87.1%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6400800" y="384048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0.612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1788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Gls/90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858000" y="384048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0.256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58000" y="41788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Ast/90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15200" y="384048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0.570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0" y="41788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xG/90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772400" y="384048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3.10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772400" y="41788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Sh/90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229600" y="384048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229600" y="41788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KP/90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SUMMARY &amp; CONCLUSIONS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170432"/>
            <a:ext cx="914400" cy="914400"/>
          </a:xfrm>
          <a:prstGeom prst="ellipse">
            <a:avLst/>
          </a:prstGeom>
          <a:solidFill>
            <a:srgbClr val="0B1F4B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1762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Data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444752" y="1609344"/>
            <a:ext cx="320040" cy="0"/>
          </a:xfrm>
          <a:prstGeom prst="line">
            <a:avLst/>
          </a:prstGeom>
          <a:noFill/>
          <a:ln w="31750">
            <a:solidFill>
              <a:srgbClr val="32C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72768" y="14264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C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38528" y="1170432"/>
            <a:ext cx="914400" cy="914400"/>
          </a:xfrm>
          <a:prstGeom prst="ellipse">
            <a:avLst/>
          </a:prstGeom>
          <a:solidFill>
            <a:srgbClr val="0B1F4B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1762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907792" y="1609344"/>
            <a:ext cx="320040" cy="0"/>
          </a:xfrm>
          <a:prstGeom prst="line">
            <a:avLst/>
          </a:prstGeom>
          <a:noFill/>
          <a:ln w="31750">
            <a:solidFill>
              <a:srgbClr val="32CD3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035808" y="14264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C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401568" y="1170432"/>
            <a:ext cx="914400" cy="914400"/>
          </a:xfrm>
          <a:prstGeom prst="ellipse">
            <a:avLst/>
          </a:prstGeom>
          <a:solidFill>
            <a:srgbClr val="0B1F4B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13716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00400" y="21762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(Scaler)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370832" y="1609344"/>
            <a:ext cx="320040" cy="0"/>
          </a:xfrm>
          <a:prstGeom prst="line">
            <a:avLst/>
          </a:prstGeom>
          <a:noFill/>
          <a:ln w="31750">
            <a:solidFill>
              <a:srgbClr val="32CD3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498848" y="14264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C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864608" y="1170432"/>
            <a:ext cx="914400" cy="914400"/>
          </a:xfrm>
          <a:prstGeom prst="ellipse">
            <a:avLst/>
          </a:prstGeom>
          <a:solidFill>
            <a:srgbClr val="0B1F4B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13716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63440" y="21762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833872" y="1609344"/>
            <a:ext cx="320040" cy="0"/>
          </a:xfrm>
          <a:prstGeom prst="line">
            <a:avLst/>
          </a:prstGeom>
          <a:noFill/>
          <a:ln w="31750">
            <a:solidFill>
              <a:srgbClr val="32CD3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961888" y="14264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C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327648" y="1170432"/>
            <a:ext cx="914400" cy="914400"/>
          </a:xfrm>
          <a:prstGeom prst="ellipse">
            <a:avLst/>
          </a:prstGeom>
          <a:solidFill>
            <a:srgbClr val="0B1F4B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13716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26480" y="21762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7296912" y="1609344"/>
            <a:ext cx="320040" cy="0"/>
          </a:xfrm>
          <a:prstGeom prst="line">
            <a:avLst/>
          </a:prstGeom>
          <a:noFill/>
          <a:ln w="31750">
            <a:solidFill>
              <a:srgbClr val="32CD3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424928" y="14264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C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7790688" y="1170432"/>
            <a:ext cx="914400" cy="914400"/>
          </a:xfrm>
          <a:prstGeom prst="ellipse">
            <a:avLst/>
          </a:prstGeom>
          <a:solidFill>
            <a:srgbClr val="0B1F4B"/>
          </a:solidFill>
          <a:ln w="12700">
            <a:solidFill>
              <a:srgbClr val="32CD32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288" y="13716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9520" y="21762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5720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0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236976"/>
            <a:ext cx="292608" cy="29260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68680" y="3200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minutes filter ensures recommendations are ready-to-play, high-potential players</a:t>
            </a:r>
            <a:endParaRPr lang="en-US" sz="11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666744"/>
            <a:ext cx="292608" cy="29260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68680" y="36301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archetypes capture playing style — clubs get players who fit tactically, not just statistically</a:t>
            </a:r>
            <a:endParaRPr lang="en-US" sz="11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096512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68680" y="405993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is direction-aware: a prolific dribbler won't be recommended for a target-man club</a:t>
            </a:r>
            <a:endParaRPr lang="en-US" sz="115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526280"/>
            <a:ext cx="292608" cy="29260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68680" y="448970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fully extensible — swap in real FBref data via scout_engine.py for live scouting</a:t>
            </a:r>
            <a:endParaRPr lang="en-US" sz="1150" dirty="0"/>
          </a:p>
        </p:txBody>
      </p:sp>
      <p:sp>
        <p:nvSpPr>
          <p:cNvPr id="42" name="Shape 3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365760" y="48737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Engine · Python · scikit-learn · pandas · openpyxl · matplotlib  |  2023/24 Season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665</Words>
  <Application>Microsoft Office PowerPoint</Application>
  <PresentationFormat>On-screen Show (16:9)</PresentationFormat>
  <Paragraphs>207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 Engine — Forward Recommendation System</dc:title>
  <dc:subject>PptxGenJS Presentation</dc:subject>
  <dc:creator>Scout Engine</dc:creator>
  <cp:lastModifiedBy>Microsoft account</cp:lastModifiedBy>
  <cp:revision>2</cp:revision>
  <dcterms:created xsi:type="dcterms:W3CDTF">2026-03-12T09:03:45Z</dcterms:created>
  <dcterms:modified xsi:type="dcterms:W3CDTF">2026-03-12T10:11:24Z</dcterms:modified>
</cp:coreProperties>
</file>